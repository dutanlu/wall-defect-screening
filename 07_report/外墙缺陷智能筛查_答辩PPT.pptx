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主摄 GSD (mm/px)</c:v>
                </c:pt>
              </c:strCache>
            </c:strRef>
          </c:tx>
          <c:spPr>
            <a:solidFill>
              <a:srgbClr val="2C3E50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1.9</c:v>
                </c:pt>
                <c:pt idx="1">
                  <c:v>3.8</c:v>
                </c:pt>
                <c:pt idx="2">
                  <c:v>7.5</c:v>
                </c:pt>
                <c:pt idx="3">
                  <c:v>18.8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5x 长焦 GSD (mm/px)</c:v>
                </c:pt>
              </c:strCache>
            </c:strRef>
          </c:tx>
          <c:spPr>
            <a:solidFill>
              <a:srgbClr val="3498DB"/>
            </a:solidFill>
          </c:spPr>
          <c:cat>
            <c:strRef>
              <c:f>Sheet1!$A$2:$A$5</c:f>
              <c:strCache>
                <c:ptCount val="4"/>
                <c:pt idx="0">
                  <c:v>5 m</c:v>
                </c:pt>
                <c:pt idx="1">
                  <c:v>10 m</c:v>
                </c:pt>
                <c:pt idx="2">
                  <c:v>20 m</c:v>
                </c:pt>
                <c:pt idx="3">
                  <c:v>50 m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0.38</c:v>
                </c:pt>
                <c:pt idx="1">
                  <c:v>0.75</c:v>
                </c:pt>
                <c:pt idx="2">
                  <c:v>1.5</c:v>
                </c:pt>
                <c:pt idx="3">
                  <c:v>3.8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0"/>
            <a:ext cx="9144000" cy="18288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外墙缺陷智能筛查系统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D3DFFB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21208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微软雅黑"/>
              </a:defRPr>
            </a:pPr>
            <a:r>
              <a:t>2026-09-22  |  北京建筑大学 · 第六届萌新种子杯视觉赛道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563EB"/>
                </a:solidFill>
                <a:latin typeface="微软雅黑"/>
              </a:defRPr>
            </a:pPr>
            <a:r>
              <a:t>目  录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37160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14400" y="16459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6459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① 问题定义：一个被跳过的物理约束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228600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28600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② 核心创新：可判读性与选择性预测</a:t>
            </a:r>
          </a:p>
        </p:txBody>
      </p:sp>
      <p:sp>
        <p:nvSpPr>
          <p:cNvPr id="8" name="Oval 7"/>
          <p:cNvSpPr/>
          <p:nvPr/>
        </p:nvSpPr>
        <p:spPr>
          <a:xfrm>
            <a:off x="914400" y="292608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92608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③ 系统架构与数据集建设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56615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6615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④ 模型训练、选型与技术深度（含提速实测与开源）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20624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062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⑤ 赛题答辩四问（为什么选这个场景 / 数据与标注 / YOLO 选型 / 预期与困难）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8463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84632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⑥ 能力边界与诚实声明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5486399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486399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82030"/>
                </a:solidFill>
                <a:latin typeface="微软雅黑"/>
              </a:defRPr>
            </a:pPr>
            <a:r>
              <a:t>★ 赛道定位：本作品最接近赛道五（可解释性与人机交互）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问题定义：一个被跳过的物理约束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行业真正缺什么 + 一个被跳过的物理约束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住建部推动「房屋体检」制度，要求建立「一房一档」台账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待查存量大：仅某一地级市既有建筑就达数十万栋量级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专业力量少：具备资质的鉴定机构有限，单次成本高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基层识别能力弱：街道/社区/物业巡检人员缺乏专业判断能力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因此缺的是「把海量照片快速筛一遍、按风险排序」的工具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核心矛盾：现有研究默认输入图像是合格的，没有人问过它配不配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GB 50010-2010：一类环境裂缝宽度限值 0.30 mm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可靠判读需 GSD ≤ 0.1 mm/px（0.3mm 目标 ≥ 3px）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主摄（24mm 等效）须贴近到约 27 cm；5x 长焦须约 1.3 m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结论：用地面照片报「裂缝宽度 0.35mm，超限」在物理上无效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无论检测模型多准 —— 这是几何决定的，不是算法能解决的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所以本项目的定位是筛查（screening），不是鉴定（appraisal）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筛查层：地面手持拍，5–50 m，输出风险排序 + 是否需专业机构进场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鉴定层（不属本项目）：无人机贴近或搭架，&lt; 2 m，出法定鉴定结论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GSD 随拍摄距离急剧恶化（主摄 24mm / 4000px）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34440"/>
          <a:ext cx="80467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核心创新：可判读性与选择性预测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核心创新三层 · 关键设计 · 为什么是串联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第一层（理论）：把 GSD 变成系统的第一等公民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可判读性 = 目标实际尺寸 ÷ GSD，门槛 3 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对每张图分别判「裂缝定级」（0.3mm）与「块状筛查」（10mm）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这是可解释的几何判据，评委可以拿计算器复算，不是黑箱置信度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第二层（工程）：拒答必须传染到输出层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若顶部说「不可判读」而明细表照打印「裂缝宽 230.19mm（严重）」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使用者只会记住「严重」。自相矛盾的输出比不输出更危险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所以该类全部定量结论作废，连 reason 文本都重写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第三层（反向约束）：避免过度拒答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GSD=0.5mm/px 时裂缝判不了，但剥落（10mm 占 20px）完全可测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用总判定盖全会丢掉算准的结果 ⇒ 按类别分别判定、分别输出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对筛查工具来说，「判不了」和「没问题」是两回事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把前者说成后者，是最危险的误报 —— 会直接放过危房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风险等级图标固定五档：A 安全 / B 个别危险点 / C 局部危房 / D 整体危房 / U 无法判定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全部不可判定时输出 U 级，绝不降级为 A 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界面提供「能力边界诚实清单」：逐项目标列出尺寸 / 占像素 / 是否可用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让使用者自己看到边界，而不是替他们猜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YOLO 负责「在哪里、是什么」—— 出 bbox + 类别 + 置信度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OpenCV 负责「有多大」—— 像素级骨架化求长度、距离变换求宽度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规则代码负责「超没超限」—— GB 50010 / JGJ 125 判据分级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OpenCV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传统方法在复杂立面上无法定位缺陷，且对纹理噪声极敏感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实测：自适应阈值取错时，300×300 ROI 里冒出 14305 个前景像素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而真实裂缝只占约 1200 个 —— 误差 10 倍以上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为什么不能只用 YOLO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bbox 回答不了「这条裂缝是 0.35mm 还是 1.2mm」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裂缝细长，宽度信息在 bbox 表征里是缺失的，必须回到像素级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系统架构与数据集建设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端到端链路：YOLO 定位 + OpenCV 量化 + 规则分级</a:t>
            </a:r>
          </a:p>
        </p:txBody>
      </p:sp>
      <p:sp>
        <p:nvSpPr>
          <p:cNvPr id="3" name="Right Arrow 2"/>
          <p:cNvSpPr/>
          <p:nvPr/>
        </p:nvSpPr>
        <p:spPr>
          <a:xfrm>
            <a:off x="231891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Arrow 3"/>
          <p:cNvSpPr/>
          <p:nvPr/>
        </p:nvSpPr>
        <p:spPr>
          <a:xfrm>
            <a:off x="433059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6342278" y="249682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wn Arrow 5"/>
          <p:cNvSpPr/>
          <p:nvPr/>
        </p:nvSpPr>
        <p:spPr>
          <a:xfrm>
            <a:off x="8353958" y="3086100"/>
            <a:ext cx="127000" cy="1300480"/>
          </a:xfrm>
          <a:prstGeom prst="down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231891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ight Arrow 7"/>
          <p:cNvSpPr/>
          <p:nvPr/>
        </p:nvSpPr>
        <p:spPr>
          <a:xfrm>
            <a:off x="4330598" y="4874260"/>
            <a:ext cx="482804" cy="127000"/>
          </a:xfrm>
          <a:prstGeom prst="rightArrow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90042" y="2034540"/>
            <a:ext cx="1528876" cy="1051560"/>
          </a:xfrm>
          <a:prstGeom prst="round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输入照片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01722" y="2034540"/>
            <a:ext cx="1528876" cy="10515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GSD 标定</a:t>
            </a:r>
            <a:br/>
            <a:r>
              <a:t>（标定物/砖缝/相机参数）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13402" y="2034540"/>
            <a:ext cx="1528876" cy="10515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可判读性判定</a:t>
            </a:r>
            <a:br/>
            <a:r>
              <a:t>（裂缝 0.3mm / 块状 10mm）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25082" y="2034540"/>
            <a:ext cx="1528876" cy="10515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YOLO 检测</a:t>
            </a:r>
            <a:br/>
            <a:r>
              <a:t>v11s640</a:t>
            </a:r>
            <a:br/>
            <a:r>
              <a:t>（在哪里、是什么）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042" y="4411980"/>
            <a:ext cx="1528876" cy="10515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OpenCV 量化</a:t>
            </a:r>
            <a:br/>
            <a:r>
              <a:t>（骨架化求长 / 距离变换求宽）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1722" y="4411980"/>
            <a:ext cx="1528876" cy="105156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国标分级</a:t>
            </a:r>
            <a:br/>
            <a:r>
              <a:t>GB 50010 / JGJ 125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13402" y="4411980"/>
            <a:ext cx="1528876" cy="105156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FFFF"/>
                </a:solidFill>
                <a:latin typeface="微软雅黑"/>
              </a:defRPr>
            </a:pPr>
            <a:r>
              <a:t>风险排序 + 是否需专业机构进场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V3 数据集：7 类全部有数据（并入 HRCDS + Urban 后）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2534717"/>
                <a:gridCol w="2534717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类别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V3 实例数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状态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rust 锈迹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补入（Urban；最多，占比过半）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exposed_rebar 露筋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1389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补入（HRCDS）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efflorescence 泛碱渗水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delamination 空鼓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694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V3 补入（Urban）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moss 苔藓附着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crack 裂缝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469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spalling 剥落缺失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有数据（最少）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数据建设：先承认自己的数据曾经不够干净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致命发现：源数据自带的 train/valid 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train 有 561 张唯一图，valid 有 156 张，其中 40 张同时出现在两侧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占它自己验证集的 25.64% —— 照用则验证指标从第一步就虚高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根因：目录镜像 —— 顶层 images 与 label/images 各存一份，train/valid 下又各一份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源数据 2400 个图片文件，按 MD5 其实只有 677 张唯一图（去重率 71.8%）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处置：弃用自带划分 → 内容级去重 → 全量重切 → 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V3 划分：train 1995 / val 568 / test 285（2848 图 / 18262 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训练入口另加一道泄漏复检 —— 训练跑几小时，开跑时污染了事后根本看不出来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训练选型与技术深度（四档实测）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7680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2563EB"/>
                </a:solidFill>
                <a:latin typeface="微软雅黑"/>
              </a:defRPr>
            </a:pPr>
            <a:r>
              <a:t>四档同条件训练 · 同一独立测试集（V3：285 图 / 1646 实例 / 7 类）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7680958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267358"/>
                <a:gridCol w="1267358"/>
                <a:gridCol w="1267358"/>
                <a:gridCol w="1267358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配置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mAP50-95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权重体积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FFFFF"/>
                          </a:solidFill>
                          <a:latin typeface="微软雅黑"/>
                        </a:defRPr>
                      </a:pPr>
                      <a:r>
                        <a:t>结论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yolo11s@640（主力）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0.7230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0.44105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18.33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mAP50-95 最高 / 体积最小 / 误检更少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yolov8s@640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0.7356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0.43244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21.51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mAP50 反高 0.0126，&lt;0.03 判不出高下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yolov8n@640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0.4109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5.99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轻量档；与 v8s 差 0.0184，判不出高下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yolov8s@1024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0.7143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0.4072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21.58 MB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82030"/>
                          </a:solidFill>
                          <a:latin typeface="微软雅黑"/>
                        </a:defRPr>
                      </a:pPr>
                      <a:r>
                        <a:t>小目标实验（训练 1024/评估 640，被低估）</a:t>
                      </a:r>
                    </a:p>
                  </a:txBody>
                  <a:tcPr>
                    <a:solidFill>
                      <a:srgbClr val="F6F8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选型纪律 + 指标不确定性：只能信到小数点后一位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先说清口径：四档 mAP50 极差仅 0.0213 &lt; 0.03 判读阈值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四个模型在 mAP50 上判不出高下，且 v8s640 的 0.7356 高于主力 0.7230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所以不要用 mAP50 论证主力地位 —— 会被抓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主力选型依据 = 三项非精度优势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mAP50-95 最高（0.44105 vs 0.43244）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② 体积最小（18.33 MB vs 21.51 MB，小 3.18 MB）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③ 假阳更少（V2 口径 109 vs 119，该计数须注明口径）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留一法检验：逐个剔除单一类别后重算差距，剔除任何一类都仍在 ±0.03 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按实例数加权后差距从 -0.0126 收敛到 +0.0012（≈0）—— 两档完全等价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我们如实更正：V2 时代「v11s 领先 +0.086」的结论在 V3 扩容后不再成立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V3 测试集 1646 实例，但类别极度不均衡：rust 占 69.8%（1149 个）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最小类 spalling 只有 43 个实例 —— 按二项分布估算半宽约 ±0.13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整体半宽 ±0.02 是被 rust 拉窄的，不能当逐类精度用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由此推出纪律：两个模型 mAP50 差异需 &gt; ≈0.03 才可认为真实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小于此值一律写作「两者相当，差异在噪声内」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这条纪律约束了我们自己的结论 —— 所以选型论证不敢用差值，改用体积与可用性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「7 类都有数据了」不等于「7 类都很准」—— 主动说这句，比被问出来好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技术深度：损失函数优化 · 判据定量刻画 · 成像维度 · 部署优化 · 开源（均可复算）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拒答判据的定量刻画 —— 本题最强的一条（技术报告 §7.7）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risk–coverage 是选择性预测的标准评估语言；文献弃权多用「不确定性」，我们用【几何判据】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首轮结果反直觉（门槛调严 risk 反升 62%→93%）⇒ 发现【接受判据必须是「带」不是「阈值」】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补上上界 ks−1 后：被接受样本平均测量误差 60.7% → 29.2%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扫下界时 τ=3 恰是最低风险点 ⇒ 反证 MIN_RELIABLE_PX=3 这个经验门槛是对的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第二重判据：成像质量（几何合格 ≠ 图像可用）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几何判据对 12 种退化一律说「可判读」，而低照度最重档 mAP50 仅 0.1586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门槛经「不误杀可用档」自动校验，当场剔除 3 个站不住的（含一个 min&gt;max 自相矛盾的）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部署优化（实测证据，技术报告 §8.2.2）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模型转换链：FP32 ONNX 36.18 → FP16 18.14 MB（−49.9%）→ ★ INT8 9.72 MB（−73.1%）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INT8 关键做法：保留 Detect 头为 FP32，只量化主干 —— 全量量化会检出 0，混合量化可用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精度：mAP50 0.7109（FP32 ONNX 0.7178，Δ −0.0069 在噪声内）；7 类逐类无崩塌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FP16 一致性 25 张图框数 146:146、IoU 0.9967；批量推理 batch=8 吞吐 1.95×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口径：体积压进 10 MB 门槛；INT8 延迟未测、校准集仅 32 张（本机内存限制）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数据增强 A/B：诚实结论是「无显著差异」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唯一变量 scale 0.9 + mixup 0.15；mAP50 +0.0036，逐类 7 类全部落在各自 CI 半宽内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前置发现：copy_paste 对纯检测是静默 no-op（只支持分割）—— 差点白烧 3 小时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⑤ 损失函数优化：类别长尾的逆频率类平衡（技术报告 §7.8）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训练集类别比 45.6:1（rust 9433 框 vs spalling 207 框）⇒ 开 cls_pw=0.5 逆频率加权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有效损失占比 45.6:1 → 6.75:1；三重验证确认生效（权重逐位与复算相同）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实测：0.7281（基线 0.7230）—— 整体 mAP50 差异落在噪声内（&lt;0.03）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定位说明：本项主张的是「规范完成了一次损失函数优化」，不是「提升了 mAP」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开源（计划）：GitHub 代码 + 数据构建脚本（不含数据集，附各来源许可）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2286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6000" b="1">
                <a:solidFill>
                  <a:srgbClr val="7C3AED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赛题答辩四问（第一阶段 30 分的答辩要求）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①②：为什么选这个场景 · 数据从哪来如何标注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赛题明文的「答辩要求」四问（原文第 93–97 行，属第一阶段 30 分）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① 为什么选这个场景　② 数据从哪来、如何标注　③ 为什么选这个 YOLO 版本　④ 预期效果与困难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① 为什么选这个场景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行业缺的是「把海量照片快速筛一遍、按风险排序」的工具，不是更准的检测器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关键：现有工作都默认「输入图像是合格的」，没人问过它配不配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物理硬约束：判读 0.3mm 裂缝需 GSD ≤ 0.1mm/px ⇒ 主摄须贴身 27cm，地面拍高层做不到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因此把任务定义为「筛查」而非「鉴定」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② 数据从哪来、如何标注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来源：4 个公开数据集（GreyBrick / Urban / HRCDS / StructuralCrackDataset），未自行拍摄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标注：沿用数据集自带标注，我们未自行标注；做的是格式转换与核对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我们投入在「可信度」：内容级去重 2400 → 677 唯一图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★ 发现数据集自带划分有 25.64% 跨集泄漏，弃用并完全重划分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诚实边界：自建收集站已上线，但投稿 0 条（不影响本结论）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赛题答辩四问 ③④：YOLO 选型 · 预期效果与困难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③ 为什么选这个 YOLO 版本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赛题明文允许 yolo11（原文点名列出版本）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四档同条件实测：v8s640 mAP50 最高 0.7356；v11s640 mAP50-95 最高 0.44105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极差 0.0213 &lt; 0.03 的不可比区间 ⇒ 判不出高下，属精度持平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主力选 v11s640：mAP50-95 / 体积 / 误检三项最优；★ 不宣称「精度最优」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④ 预期达到什么效果、可能遇到什么困难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预期：风险排序 + 是否需专业机构进场；三态输出；测试集 mAP50 ≥ 0.65；1 秒内出结果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实际：mAP50 = 0.723（285 图 / 1646 实例）；GPU 推理 9.29 ms/图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真遇到的困难：类别不全（4→7 类）、自带划分泄漏 25.64%、长尾 43:1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小样本类 CI ±0.16 ⇒ 不跨模型比大小；量化失败；空鼓只能给间接迹象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最难的一条不是精度，是「敢不敢承认自己判不了」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228600"/>
            <a:ext cx="548640" cy="5486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"/>
            <a:ext cx="74980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微软雅黑"/>
              </a:defRPr>
            </a:pPr>
            <a:r>
              <a:t>能力边界与收尾：一个诚实的系统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第一，空鼓：可见光的边界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脱开发生在内部界面，表面看起来可能完全正常，可见光只能看到间接迹象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专业手段是敲击法或红外热成像 —— 这是技术边界，不是数据问题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第二，7 类中早先只有 4 类有数据（现已补齐，但两条限制必须同时说）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限制一：类别极度不平衡（rust : spalling ≈ 43 : 1，未做重采样）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限制二：空鼓即便有标注，可见光判读仍只是间接迹象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第三，不能替代人工鉴定，我们也从不这样宣称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它是筛查工具：过一遍海量照片、排风险顺序、告诉基层哪几栋该优先请专业机构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筛查和鉴定是两层，我们只做第一层，并且把这条边界写进了产品里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这套数据自带了一个 train/valid 划分，我们一开始就想直接用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但动手前做了内容级 MD5 核对，发现源数据自带划分本身就是污染的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要是照用，验证指标从第一步就是虚高的，而报告里根本看不出来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所以我们弃用原划分，按内容去重、全量重切，9 项跨集交叉检查全部为 0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训练入口再加一道泄漏复检 —— 训练跑几小时，污染了事后根本看不出来</a:t>
            </a:r>
          </a:p>
          <a:p>
            <a:pPr>
              <a:spcAft>
                <a:spcPts val="800"/>
              </a:spcAft>
              <a:defRPr sz="1600" b="1">
                <a:solidFill>
                  <a:srgbClr val="182030"/>
                </a:solidFill>
                <a:latin typeface="微软雅黑"/>
              </a:defRPr>
            </a:pPr>
            <a:r>
              <a:t>一个诚实的系统，它的价值不在于能给出多少结论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而在于它知道自己什么时候不该给结论</a:t>
            </a:r>
          </a:p>
          <a:p>
            <a:pPr lvl="1">
              <a:spcAft>
                <a:spcPts val="400"/>
              </a:spcAft>
              <a:defRPr sz="1600" b="0">
                <a:solidFill>
                  <a:srgbClr val="182030"/>
                </a:solidFill>
                <a:latin typeface="微软雅黑"/>
              </a:defRPr>
            </a:pPr>
            <a:r>
              <a:t>也在于它愿意承认自己的数据曾经不够干净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9144000" cy="146304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834640" y="1463040"/>
            <a:ext cx="137160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7315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微软雅黑"/>
              </a:defRPr>
            </a:pPr>
            <a:r>
              <a:t>谢谢各位评委老师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DEE7FC"/>
                </a:solidFill>
                <a:latin typeface="微软雅黑"/>
              </a:defRPr>
            </a:pPr>
            <a:r>
              <a:t>一个知道自己什么时候不该给结论的筛查系统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064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FFFFFF"/>
                </a:solidFill>
                <a:latin typeface="微软雅黑"/>
              </a:defRPr>
            </a:pPr>
            <a:r>
              <a:t>北京建筑大学 · 第六届萌新种子杯视觉赛道创新题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